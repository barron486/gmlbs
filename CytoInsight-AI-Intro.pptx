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2"/>
          </a:solidFill>
          <a:ln w="12700">
            <a:solidFill>
              <a:srgbClr val="080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LEICA BIOSYSTEMS / CYTOVISION PLATFORM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CytoInsight</a:t>
            </a:r>
            <a:pPr algn="l" indent="0" marL="0">
              <a:buNone/>
            </a:pPr>
            <a:endParaRPr lang="en-US" sz="7200" dirty="0"/>
          </a:p>
          <a:p>
            <a:pPr algn="l" indent="0" marL="0">
              <a:buNone/>
            </a:pPr>
            <a:r>
              <a:rPr lang="en-US" sz="7200" b="1" dirty="0">
                <a:solidFill>
                  <a:srgbClr val="00D4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20040" y="24688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讓染色體排列不再耗時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303580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CytoVision 平台的 AI 智能升級模組，以深度學習自動完成核型製作。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3493008"/>
            <a:ext cx="5029200" cy="16459"/>
          </a:xfrm>
          <a:prstGeom prst="rect">
            <a:avLst/>
          </a:prstGeom>
          <a:solidFill>
            <a:srgbClr val="3A4D6B"/>
          </a:solidFill>
          <a:ln w="12700">
            <a:solidFill>
              <a:srgbClr val="3A4D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6118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978408" y="3749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" y="4206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效率提升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783080" y="36118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93.6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441448" y="3749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83080" y="4206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手動操作時間縮短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794760" y="36118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453128" y="3749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分鐘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94760" y="4206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每個核型平均耗時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583680" y="457200"/>
            <a:ext cx="2926080" cy="2926080"/>
          </a:xfrm>
          <a:prstGeom prst="ellipse">
            <a:avLst/>
          </a:prstGeom>
          <a:solidFill>
            <a:srgbClr val="00D4A8">
              <a:alpha val="8000"/>
            </a:srgbClr>
          </a:solidFill>
          <a:ln w="6350">
            <a:solidFill>
              <a:srgbClr val="00D4A8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0" y="822960"/>
            <a:ext cx="2194560" cy="2194560"/>
          </a:xfrm>
          <a:prstGeom prst="ellipse">
            <a:avLst/>
          </a:prstGeom>
          <a:solidFill>
            <a:srgbClr val="000000">
              <a:alpha val="0"/>
            </a:srgbClr>
          </a:solidFill>
          <a:ln w="6350">
            <a:solidFill>
              <a:srgbClr val="00D4A8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1188720"/>
            <a:ext cx="1463040" cy="1463040"/>
          </a:xfrm>
          <a:prstGeom prst="ellipse">
            <a:avLst/>
          </a:prstGeom>
          <a:solidFill>
            <a:srgbClr val="000000">
              <a:alpha val="0"/>
            </a:srgbClr>
          </a:solidFill>
          <a:ln w="6350">
            <a:solidFill>
              <a:srgbClr val="C9A84C">
                <a:alpha val="3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B7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Leica Biosystems · CytoInsight AI  |  Deep Learning · Cell Genetics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2"/>
          </a:solidFill>
          <a:ln w="12700">
            <a:solidFill>
              <a:srgbClr val="080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01168"/>
            <a:ext cx="228600" cy="16459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630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POSITIONING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CytoInsight 在 CytoVision 平台中的位置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0241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CytoInsight 並非獨立硬體，而是 CytoVision 的 AI 軟體升級模組，採用「人機協作」設計哲學。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749040" cy="1417320"/>
          </a:xfrm>
          <a:prstGeom prst="rect">
            <a:avLst/>
          </a:prstGeom>
          <a:solidFill>
            <a:srgbClr val="0D1420"/>
          </a:solidFill>
          <a:ln w="10160">
            <a:solidFill>
              <a:srgbClr val="3A4D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4813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B7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基礎平台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94360" y="16824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CytoVision 核心功能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0116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Metaphase Finding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1945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高解析度影像擷取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3774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手動排列介面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5603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LIMS / LIS 整合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15968" y="1874520"/>
            <a:ext cx="457200" cy="365760"/>
          </a:xfrm>
          <a:prstGeom prst="rightArrow">
            <a:avLst/>
          </a:prstGeom>
          <a:solidFill>
            <a:srgbClr val="00D4A8">
              <a:alpha val="70000"/>
            </a:srgbClr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1417320"/>
            <a:ext cx="3749040" cy="1417320"/>
          </a:xfrm>
          <a:prstGeom prst="rect">
            <a:avLst/>
          </a:prstGeom>
          <a:solidFill>
            <a:srgbClr val="0D1420"/>
          </a:solidFill>
          <a:ln w="10160">
            <a:solidFill>
              <a:srgbClr val="00D4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1417320"/>
            <a:ext cx="3749040" cy="27432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4813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升級模組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029200" y="16824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CytoInsight AI 功能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20116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AI 自動核型分析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0" y="21945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深度學習染色體分類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0" y="23774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AI FISH 自動計數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0" y="25603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智能品質篩選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971800"/>
            <a:ext cx="2724912" cy="1828800"/>
          </a:xfrm>
          <a:prstGeom prst="rect">
            <a:avLst/>
          </a:prstGeom>
          <a:solidFill>
            <a:srgbClr val="0D1420"/>
          </a:solidFill>
          <a:ln w="10160">
            <a:solidFill>
              <a:srgbClr val="3A4D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" y="30906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4A8"/>
                </a:solidFill>
              </a:rPr>
              <a:t>↑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3090672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現有用戶可軟體升級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" y="3456432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已有 CytoVision 的客戶通常無需更換硬體，透過軟體授權即可導入。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55848" y="2971800"/>
            <a:ext cx="2724912" cy="1828800"/>
          </a:xfrm>
          <a:prstGeom prst="rect">
            <a:avLst/>
          </a:prstGeom>
          <a:solidFill>
            <a:srgbClr val="0D1420"/>
          </a:solidFill>
          <a:ln w="10160">
            <a:solidFill>
              <a:srgbClr val="3A4D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520440" y="30906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4A8"/>
                </a:solidFill>
              </a:rPr>
              <a:t>◉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904488" y="3090672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單一介面完成全流程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520440" y="3456432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從影像擷取、AI 分析、人工審查到報告輸出，全在一個介面完成。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54496" y="2971800"/>
            <a:ext cx="2724912" cy="1828800"/>
          </a:xfrm>
          <a:prstGeom prst="rect">
            <a:avLst/>
          </a:prstGeom>
          <a:solidFill>
            <a:srgbClr val="0D1420"/>
          </a:solidFill>
          <a:ln w="10160">
            <a:solidFill>
              <a:srgbClr val="3A4D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19088" y="30906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4A8"/>
                </a:solidFill>
              </a:rPr>
              <a:t>⟳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03136" y="3090672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模型持續自我優化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19088" y="3456432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醫檢師的修正記錄可持續回饋優化 AI 模型精準度。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2"/>
          </a:solidFill>
          <a:ln w="12700">
            <a:solidFill>
              <a:srgbClr val="080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01168"/>
            <a:ext cx="228600" cy="16459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630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AI CAPABILITIES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四大 AI 核心模組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160520" cy="1691640"/>
          </a:xfrm>
          <a:prstGeom prst="rect">
            <a:avLst/>
          </a:prstGeom>
          <a:solidFill>
            <a:srgbClr val="0D1420"/>
          </a:solidFill>
          <a:ln w="10160">
            <a:solidFill>
              <a:srgbClr val="00D4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" y="1325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" y="1325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AUTO-KARYOTYPING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21792" y="1581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自動核型分析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" y="192938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在數秒內自動完成染色體分割、條帶辨識、同源配對，並按 ISCN 標準排列核型圖。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86200" y="15544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93.6%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19476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9A8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手動操作時間縮短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846320" y="1234440"/>
            <a:ext cx="4160520" cy="1691640"/>
          </a:xfrm>
          <a:prstGeom prst="rect">
            <a:avLst/>
          </a:prstGeom>
          <a:solidFill>
            <a:srgbClr val="0D1420"/>
          </a:solidFill>
          <a:ln w="10160">
            <a:solidFill>
              <a:srgbClr val="3A4D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10912" y="1325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40680" y="1325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LEARNING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010912" y="1581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深度學習染色體分類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10912" y="192938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CNN 模型依長度、著絲點位置及 G-band 條帶模式精準分類，主動標記品質不佳染色體。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75320" y="15544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&gt;99%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80960" y="19476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9A8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染色體分割定位準確率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4160520" cy="1691640"/>
          </a:xfrm>
          <a:prstGeom prst="rect">
            <a:avLst/>
          </a:prstGeom>
          <a:solidFill>
            <a:srgbClr val="0D1420"/>
          </a:solidFill>
          <a:ln w="10160">
            <a:solidFill>
              <a:srgbClr val="3A4D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1792" y="3200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1560" y="3200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FISH SIGNAL ANALYSIS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21792" y="3456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輔助 FISH 訊號計數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" y="380390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自動偵測紅／綠／橘／金色螢光訊號，批次分析多細胞並產出統計摘要，標記異常細胞。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86200" y="34290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4+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91840" y="38221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9A8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螢光色彩同步計數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846320" y="3108960"/>
            <a:ext cx="4160520" cy="1691640"/>
          </a:xfrm>
          <a:prstGeom prst="rect">
            <a:avLst/>
          </a:prstGeom>
          <a:solidFill>
            <a:srgbClr val="0D1420"/>
          </a:solidFill>
          <a:ln w="10160">
            <a:solidFill>
              <a:srgbClr val="3A4D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10912" y="3200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40680" y="3200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 INTELLIGENCE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10912" y="3456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智能品質篩選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10912" y="380390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依染色體分散程度、重疊狀況、條帶清晰度自動評分，將最佳分裂相優先呈現給醫檢師。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75320" y="34290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自動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680960" y="38221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9A8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品質評分排序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2"/>
          </a:solidFill>
          <a:ln w="12700">
            <a:solidFill>
              <a:srgbClr val="080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"/>
            <a:ext cx="36576" cy="5106924"/>
          </a:xfrm>
          <a:prstGeom prst="rect">
            <a:avLst/>
          </a:prstGeom>
          <a:solidFill>
            <a:srgbClr val="00D4A8">
              <a:alpha val="40000"/>
            </a:srgbClr>
          </a:solidFill>
          <a:ln w="12700">
            <a:solidFill>
              <a:srgbClr val="00D4A8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8288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AUTO-KARYOTYPING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42062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自動核型分析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工作原理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3898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染色體分割 — AI 精準識別每條染色體邊界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7007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條帶辨識 — 自動分析 G-band / R-band 模式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011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同源配對 — 依長度與著絲點位置智能配對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23225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ISCN 排列 — 按國際標準自動生成完整核型圖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2633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異常標記 — 主動標記辨識不確定的染色體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30175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醫檢師僅需審查並微調少數辨識錯誤，大幅降低重複性作業負擔，讓專業判斷聚焦在真正重要的複雜案例。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4114800" cy="1097280"/>
          </a:xfrm>
          <a:prstGeom prst="rect">
            <a:avLst/>
          </a:prstGeom>
          <a:solidFill>
            <a:srgbClr val="0D1420"/>
          </a:solidFill>
          <a:ln w="10160">
            <a:solidFill>
              <a:srgbClr val="00D4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97280"/>
            <a:ext cx="4114800" cy="27432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29844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93.6%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937760" y="1792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手動操作時間縮短（官方數據）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359152"/>
            <a:ext cx="4114800" cy="1097280"/>
          </a:xfrm>
          <a:prstGeom prst="rect">
            <a:avLst/>
          </a:prstGeom>
          <a:solidFill>
            <a:srgbClr val="0D1420"/>
          </a:solidFill>
          <a:ln w="10160">
            <a:solidFill>
              <a:srgbClr val="3A4D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256032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&gt;30yr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937760" y="3054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Leica 細胞遺傳學驗證歷史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621024"/>
            <a:ext cx="4114800" cy="1097280"/>
          </a:xfrm>
          <a:prstGeom prst="rect">
            <a:avLst/>
          </a:prstGeom>
          <a:solidFill>
            <a:srgbClr val="0D1420"/>
          </a:solidFill>
          <a:ln w="10160">
            <a:solidFill>
              <a:srgbClr val="3A4D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382219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數秒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4937760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完成一個核型的初步排列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2"/>
          </a:solidFill>
          <a:ln w="12700">
            <a:solidFill>
              <a:srgbClr val="080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01168"/>
            <a:ext cx="228600" cy="16459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630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DEEP LEARNING CLASSIFICATION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深度學習染色體分類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931920" cy="1371600"/>
          </a:xfrm>
          <a:prstGeom prst="rect">
            <a:avLst/>
          </a:prstGeom>
          <a:solidFill>
            <a:srgbClr val="0D1420"/>
          </a:solidFill>
          <a:ln w="10160">
            <a:solidFill>
              <a:srgbClr val="00D4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51560"/>
            <a:ext cx="3931920" cy="27432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1155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CNN 深度學習架構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39903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卷積神經網路（CNN）訓練自數萬條已標註染色體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依長度、著絲點位置及 G-band 條帶模式精準分類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5786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&gt;99%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2980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染色體分割定位準確率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423160" y="25786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CNN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423160" y="2980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深度學習架構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3337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遇染色體重疊、扭轉或品質不佳時，AI 主動標記供醫檢師優先審查。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26280" y="91440"/>
            <a:ext cx="16459" cy="4937760"/>
          </a:xfrm>
          <a:prstGeom prst="rect">
            <a:avLst/>
          </a:prstGeom>
          <a:solidFill>
            <a:srgbClr val="3A4D6B"/>
          </a:solidFill>
          <a:ln w="12700">
            <a:solidFill>
              <a:srgbClr val="3A4D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01168"/>
            <a:ext cx="228600" cy="16459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01768" y="14630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FISH SIGNAL ANALYSIS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09160" y="457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輔助 FISH 訊號計數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709160" y="1051560"/>
            <a:ext cx="4206240" cy="1371600"/>
          </a:xfrm>
          <a:prstGeom prst="rect">
            <a:avLst/>
          </a:prstGeom>
          <a:solidFill>
            <a:srgbClr val="0D1420"/>
          </a:solidFill>
          <a:ln w="10160">
            <a:solidFill>
              <a:srgbClr val="00D4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051560"/>
            <a:ext cx="4206240" cy="27432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115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多色螢光自動計數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139903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自動偵測並依顏色（紅/綠/橘/金色）分別計數螢光訊號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批次分析多個細胞並產出統計摘要報告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578608"/>
            <a:ext cx="292608" cy="292608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59689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751576" y="2578608"/>
            <a:ext cx="292608" cy="292608"/>
          </a:xfrm>
          <a:prstGeom prst="ellipse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71616" y="259689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93992" y="2578608"/>
            <a:ext cx="292608" cy="292608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14032" y="259689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836408" y="2578608"/>
            <a:ext cx="292608" cy="29260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56448" y="259689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09160" y="3017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自動標記訊號數量異常細胞（基因擴增或缺失），大幅降低視覺疲勞。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9160" y="35844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4+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4709160" y="39867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螢光色彩同步計數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12280" y="35844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批次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812280" y="39867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多細胞自動分析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2"/>
          </a:solidFill>
          <a:ln w="12700">
            <a:solidFill>
              <a:srgbClr val="080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01168"/>
            <a:ext cx="228600" cy="16459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630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EFFICIENCY COMPARISON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導入前後工作流程比較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傳統流程（無 AI）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08176"/>
            <a:ext cx="3749040" cy="329184"/>
          </a:xfrm>
          <a:prstGeom prst="rect">
            <a:avLst/>
          </a:prstGeom>
          <a:solidFill>
            <a:srgbClr val="0D1420"/>
          </a:solidFill>
          <a:ln w="10160">
            <a:solidFill>
              <a:srgbClr val="3A4D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538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掃描分裂相影像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0" y="145389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~5 min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792224"/>
            <a:ext cx="3749040" cy="329184"/>
          </a:xfrm>
          <a:prstGeom prst="rect">
            <a:avLst/>
          </a:prstGeom>
          <a:solidFill>
            <a:srgbClr val="0D1420"/>
          </a:solidFill>
          <a:ln w="10160">
            <a:solidFill>
              <a:srgbClr val="3A4D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83794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顯微鏡確認品質 / 手動翻閱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26080" y="183794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 min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176272"/>
            <a:ext cx="3749040" cy="329184"/>
          </a:xfrm>
          <a:prstGeom prst="rect">
            <a:avLst/>
          </a:prstGeom>
          <a:solidFill>
            <a:srgbClr val="FF4D6D">
              <a:alpha val="15000"/>
            </a:srgbClr>
          </a:solidFill>
          <a:ln w="10160">
            <a:solidFill>
              <a:srgbClr val="FF4D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2219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D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手動逐一辨識 46 條染色體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26080" y="222199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~10–15 min  ⚠ 最耗時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560320"/>
            <a:ext cx="3749040" cy="329184"/>
          </a:xfrm>
          <a:prstGeom prst="rect">
            <a:avLst/>
          </a:prstGeom>
          <a:solidFill>
            <a:srgbClr val="0D1420"/>
          </a:solidFill>
          <a:ln w="10160">
            <a:solidFill>
              <a:srgbClr val="3A4D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6060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拖拉排列、配對（1-22 + XY）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26080" y="260604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~5–10 min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2944368"/>
            <a:ext cx="3749040" cy="329184"/>
          </a:xfrm>
          <a:prstGeom prst="rect">
            <a:avLst/>
          </a:prstGeom>
          <a:solidFill>
            <a:srgbClr val="0D1420"/>
          </a:solidFill>
          <a:ln w="10160">
            <a:solidFill>
              <a:srgbClr val="3A4D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9900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核型圖完成 → 發報告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26080" y="299008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 min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3429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15–30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1847088" y="3520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分鐘 / 每個核型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60520" y="2240280"/>
            <a:ext cx="777240" cy="457200"/>
          </a:xfrm>
          <a:prstGeom prst="rightArrow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87952" y="281635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導入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0" y="1078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輔助流程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37760" y="1408176"/>
            <a:ext cx="3931920" cy="347472"/>
          </a:xfrm>
          <a:prstGeom prst="rect">
            <a:avLst/>
          </a:prstGeom>
          <a:solidFill>
            <a:srgbClr val="0D1420"/>
          </a:solidFill>
          <a:ln w="10160">
            <a:solidFill>
              <a:srgbClr val="3A4D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14630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掃描分裂相（AI 同步品質評分）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52360" y="14630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 min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937760" y="1828800"/>
            <a:ext cx="3931920" cy="347472"/>
          </a:xfrm>
          <a:prstGeom prst="rect">
            <a:avLst/>
          </a:prstGeom>
          <a:solidFill>
            <a:srgbClr val="00D4A8">
              <a:alpha val="15000"/>
            </a:srgbClr>
          </a:solidFill>
          <a:ln w="10160">
            <a:solidFill>
              <a:srgbClr val="00D4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188366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✦ AI 自動：辨識 → 分類 → 配對 → 排列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52360" y="18836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數秒內完成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937760" y="2249424"/>
            <a:ext cx="3931920" cy="347472"/>
          </a:xfrm>
          <a:prstGeom prst="rect">
            <a:avLst/>
          </a:prstGeom>
          <a:solidFill>
            <a:srgbClr val="0D1420"/>
          </a:solidFill>
          <a:ln w="10160">
            <a:solidFill>
              <a:srgbClr val="3A4D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23042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醫檢師審查 AI 初稿（確認 / 微調）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452360" y="23042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~1–2 min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937760" y="2670048"/>
            <a:ext cx="3931920" cy="347472"/>
          </a:xfrm>
          <a:prstGeom prst="rect">
            <a:avLst/>
          </a:prstGeom>
          <a:solidFill>
            <a:srgbClr val="0D1420"/>
          </a:solidFill>
          <a:ln w="10160">
            <a:solidFill>
              <a:srgbClr val="3A4D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4920" y="27249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核型圖完成 → 發報告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452360" y="27249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 min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937760" y="3429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3–5</a:t>
            </a:r>
            <a:endParaRPr lang="en-US" sz="3200" dirty="0"/>
          </a:p>
        </p:txBody>
      </p:sp>
      <p:sp>
        <p:nvSpPr>
          <p:cNvPr id="41" name="Text 39"/>
          <p:cNvSpPr/>
          <p:nvPr/>
        </p:nvSpPr>
        <p:spPr>
          <a:xfrm>
            <a:off x="6062472" y="34564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分鐘 / 每個核型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（效率提升 4–6×）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041648"/>
            <a:ext cx="9144000" cy="1097280"/>
          </a:xfrm>
          <a:prstGeom prst="rect">
            <a:avLst/>
          </a:prstGeom>
          <a:solidFill>
            <a:srgbClr val="0D1420"/>
          </a:solidFill>
          <a:ln w="12700">
            <a:solidFill>
              <a:srgbClr val="0D142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4041648"/>
            <a:ext cx="9144000" cy="22860"/>
          </a:xfrm>
          <a:prstGeom prst="rect">
            <a:avLst/>
          </a:prstGeom>
          <a:solidFill>
            <a:srgbClr val="00D4A8">
              <a:alpha val="40000"/>
            </a:srgbClr>
          </a:solidFill>
          <a:ln w="12700">
            <a:solidFill>
              <a:srgbClr val="00D4A8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" y="41330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hr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731520" y="45537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每日節省的人力工時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（每日 20 個樣本計算）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657600" y="41330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93.6%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3657600" y="45537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手動操作時間縮短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（官方實測）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583680" y="41330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2–3 年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6583680" y="45537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人力成本節省回收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設備投資期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2"/>
          </a:solidFill>
          <a:ln w="12700">
            <a:solidFill>
              <a:srgbClr val="080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01168"/>
            <a:ext cx="228600" cy="16459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630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CONFIGURATION GUIDE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配置選擇指南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依據實驗室規模與應用需求，快速對應最適配置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1463040" cy="274320"/>
          </a:xfrm>
          <a:prstGeom prst="rect">
            <a:avLst/>
          </a:prstGeom>
          <a:solidFill>
            <a:srgbClr val="00D4A8">
              <a:alpha val="20000"/>
            </a:srgbClr>
          </a:solidFill>
          <a:ln w="6350">
            <a:solidFill>
              <a:srgbClr val="00D4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533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實驗室規模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764792" y="1325880"/>
            <a:ext cx="1645920" cy="274320"/>
          </a:xfrm>
          <a:prstGeom prst="rect">
            <a:avLst/>
          </a:prstGeom>
          <a:solidFill>
            <a:srgbClr val="00D4A8">
              <a:alpha val="20000"/>
            </a:srgbClr>
          </a:solidFill>
          <a:ln w="6350">
            <a:solidFill>
              <a:srgbClr val="00D4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10512" y="13533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主要應用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438144" y="1325880"/>
            <a:ext cx="1371600" cy="274320"/>
          </a:xfrm>
          <a:prstGeom prst="rect">
            <a:avLst/>
          </a:prstGeom>
          <a:solidFill>
            <a:srgbClr val="00D4A8">
              <a:alpha val="20000"/>
            </a:srgbClr>
          </a:solidFill>
          <a:ln w="6350">
            <a:solidFill>
              <a:srgbClr val="00D4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83864" y="13533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每日樣本量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37176" y="1325880"/>
            <a:ext cx="2011680" cy="274320"/>
          </a:xfrm>
          <a:prstGeom prst="rect">
            <a:avLst/>
          </a:prstGeom>
          <a:solidFill>
            <a:srgbClr val="00D4A8">
              <a:alpha val="20000"/>
            </a:srgbClr>
          </a:solidFill>
          <a:ln w="6350">
            <a:solidFill>
              <a:srgbClr val="00D4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82896" y="13533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建議配置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76288" y="1325880"/>
            <a:ext cx="2331720" cy="274320"/>
          </a:xfrm>
          <a:prstGeom prst="rect">
            <a:avLst/>
          </a:prstGeom>
          <a:solidFill>
            <a:srgbClr val="00D4A8">
              <a:alpha val="20000"/>
            </a:srgbClr>
          </a:solidFill>
          <a:ln w="6350">
            <a:solidFill>
              <a:srgbClr val="00D4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22008" y="13533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核心效益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1627632"/>
            <a:ext cx="8641080" cy="621792"/>
          </a:xfrm>
          <a:prstGeom prst="rect">
            <a:avLst/>
          </a:prstGeom>
          <a:solidFill>
            <a:srgbClr val="0D1420"/>
          </a:solidFill>
          <a:ln w="6350">
            <a:solidFill>
              <a:srgbClr val="3A4D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700784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小型診所 / 區域醫院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1700784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產前診斷為主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83864" y="1700784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&lt; 10 / 天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82896" y="1700784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CytoVision + CytoInsight AI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922008" y="1700784"/>
            <a:ext cx="2240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單一介面、軟體升級、快速導入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286000"/>
            <a:ext cx="8641080" cy="621792"/>
          </a:xfrm>
          <a:prstGeom prst="rect">
            <a:avLst/>
          </a:prstGeom>
          <a:solidFill>
            <a:srgbClr val="121B2A"/>
          </a:solidFill>
          <a:ln w="6350">
            <a:solidFill>
              <a:srgbClr val="3A4D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359152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中型醫院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10512" y="2359152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產前 + 血液腫瘤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83864" y="2359152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10–30 / 天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82896" y="2359152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CytoVision + CytoInsight AI + FISH 模組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922008" y="2359152"/>
            <a:ext cx="2240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雙應用整合、效率全面提升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944368"/>
            <a:ext cx="8641080" cy="621792"/>
          </a:xfrm>
          <a:prstGeom prst="rect">
            <a:avLst/>
          </a:prstGeom>
          <a:solidFill>
            <a:srgbClr val="0D1420"/>
          </a:solidFill>
          <a:ln w="6350">
            <a:solidFill>
              <a:srgbClr val="3A4D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01752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醫學中心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810512" y="3017520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完整細胞遺傳學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83864" y="301752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&gt; 30 / 天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82896" y="3017520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CytoVision + CytoInsight AI + GSL-120 自動化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922008" y="3017520"/>
            <a:ext cx="2240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高通量自動化、TAT 最大化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3602736"/>
            <a:ext cx="8641080" cy="621792"/>
          </a:xfrm>
          <a:prstGeom prst="rect">
            <a:avLst/>
          </a:prstGeom>
          <a:solidFill>
            <a:srgbClr val="121B2A"/>
          </a:solidFill>
          <a:ln w="6350">
            <a:solidFill>
              <a:srgbClr val="3A4D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675888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獨立醫檢所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810512" y="3675888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大量批次樣本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83864" y="3675888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&gt; 50 / 天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82896" y="3675888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CytoVision + CytoInsight AI + 全自動上樣系統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922008" y="3675888"/>
            <a:ext cx="2240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最大產能、ROI 最優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 已有 CytoVision 的客戶通常無需更換硬體，透過軟體授權即可升級導入 CytoInsight AI。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2"/>
          </a:solidFill>
          <a:ln w="12700">
            <a:solidFill>
              <a:srgbClr val="080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01168"/>
            <a:ext cx="228600" cy="16459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630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COMPETITIVE COMPARISON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Leica CytoInsight vs. 主要競品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2194560" cy="320040"/>
          </a:xfrm>
          <a:prstGeom prst="rect">
            <a:avLst/>
          </a:prstGeom>
          <a:solidFill>
            <a:srgbClr val="121B2A"/>
          </a:solidFill>
          <a:ln w="6350">
            <a:solidFill>
              <a:srgbClr val="3A4D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133856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比較項目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42032" y="1097280"/>
            <a:ext cx="2194560" cy="320040"/>
          </a:xfrm>
          <a:prstGeom prst="rect">
            <a:avLst/>
          </a:prstGeom>
          <a:solidFill>
            <a:srgbClr val="00D4A8">
              <a:alpha val="15000"/>
            </a:srgbClr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96896" y="1133856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👑 Leica CytoInsight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73168" y="1097280"/>
            <a:ext cx="2103120" cy="320040"/>
          </a:xfrm>
          <a:prstGeom prst="rect">
            <a:avLst/>
          </a:prstGeom>
          <a:solidFill>
            <a:srgbClr val="121B2A"/>
          </a:solidFill>
          <a:ln w="6350">
            <a:solidFill>
              <a:srgbClr val="3A4D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133856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Applied Spectral (ASI)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03720" y="1097280"/>
            <a:ext cx="2103120" cy="320040"/>
          </a:xfrm>
          <a:prstGeom prst="rect">
            <a:avLst/>
          </a:prstGeom>
          <a:solidFill>
            <a:srgbClr val="121B2A"/>
          </a:solidFill>
          <a:ln w="6350">
            <a:solidFill>
              <a:srgbClr val="3A4D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58584" y="1133856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Metasystems Ikaros AI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463040"/>
            <a:ext cx="8641080" cy="530352"/>
          </a:xfrm>
          <a:prstGeom prst="rect">
            <a:avLst/>
          </a:prstGeom>
          <a:solidFill>
            <a:srgbClr val="0D1420"/>
          </a:solidFill>
          <a:ln w="6350">
            <a:solidFill>
              <a:srgbClr val="3A4D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1517904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與硬體整合度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596896" y="1517904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與 CytoVision 原生整合，單一介面全流程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28032" y="1517904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△ 需搭配特定相機系統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958584" y="1517904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△ 需搭配 Metasystems 平台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42032" y="1463040"/>
            <a:ext cx="2194560" cy="530352"/>
          </a:xfrm>
          <a:prstGeom prst="rect">
            <a:avLst/>
          </a:prstGeom>
          <a:solidFill>
            <a:srgbClr val="00D4A8">
              <a:alpha val="5000"/>
            </a:srgbClr>
          </a:solidFill>
          <a:ln w="6350">
            <a:solidFill>
              <a:srgbClr val="00D4A8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029968"/>
            <a:ext cx="8641080" cy="530352"/>
          </a:xfrm>
          <a:prstGeom prst="rect">
            <a:avLst/>
          </a:prstGeom>
          <a:solidFill>
            <a:srgbClr val="121B2A"/>
          </a:solidFill>
          <a:ln w="6350">
            <a:solidFill>
              <a:srgbClr val="3A4D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2084832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G-band AI 自動核型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96896" y="2084832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深度學習 CNN，分割定位準確率 &gt;99%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28032" y="2084832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有 AI 功能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958584" y="2084832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有 AI 功能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42032" y="2029968"/>
            <a:ext cx="2194560" cy="530352"/>
          </a:xfrm>
          <a:prstGeom prst="rect">
            <a:avLst/>
          </a:prstGeom>
          <a:solidFill>
            <a:srgbClr val="00D4A8">
              <a:alpha val="5000"/>
            </a:srgbClr>
          </a:solidFill>
          <a:ln w="6350">
            <a:solidFill>
              <a:srgbClr val="00D4A8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596896"/>
            <a:ext cx="8641080" cy="530352"/>
          </a:xfrm>
          <a:prstGeom prst="rect">
            <a:avLst/>
          </a:prstGeom>
          <a:solidFill>
            <a:srgbClr val="0D1420"/>
          </a:solidFill>
          <a:ln w="6350">
            <a:solidFill>
              <a:srgbClr val="3A4D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" y="2651760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FISH AI 多色訊號計數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96896" y="2651760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多色螢光自動計數、異常標記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28032" y="2651760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支援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958584" y="2651760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支援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542032" y="2596896"/>
            <a:ext cx="2194560" cy="530352"/>
          </a:xfrm>
          <a:prstGeom prst="rect">
            <a:avLst/>
          </a:prstGeom>
          <a:solidFill>
            <a:srgbClr val="00D4A8">
              <a:alpha val="5000"/>
            </a:srgbClr>
          </a:solidFill>
          <a:ln w="6350">
            <a:solidFill>
              <a:srgbClr val="00D4A8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163824"/>
            <a:ext cx="8641080" cy="530352"/>
          </a:xfrm>
          <a:prstGeom prst="rect">
            <a:avLst/>
          </a:prstGeom>
          <a:solidFill>
            <a:srgbClr val="121B2A"/>
          </a:solidFill>
          <a:ln w="6350">
            <a:solidFill>
              <a:srgbClr val="3A4D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" y="3218688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品質智能篩選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596896" y="3218688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自動評分、排序、閾值可自訂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28032" y="3218688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△ 較基本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958584" y="3218688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△ 較基本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542032" y="3163824"/>
            <a:ext cx="2194560" cy="530352"/>
          </a:xfrm>
          <a:prstGeom prst="rect">
            <a:avLst/>
          </a:prstGeom>
          <a:solidFill>
            <a:srgbClr val="00D4A8">
              <a:alpha val="5000"/>
            </a:srgbClr>
          </a:solidFill>
          <a:ln w="6350">
            <a:solidFill>
              <a:srgbClr val="00D4A8">
                <a:alpha val="6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3730752"/>
            <a:ext cx="8641080" cy="530352"/>
          </a:xfrm>
          <a:prstGeom prst="rect">
            <a:avLst/>
          </a:prstGeom>
          <a:solidFill>
            <a:srgbClr val="0D1420"/>
          </a:solidFill>
          <a:ln w="6350">
            <a:solidFill>
              <a:srgbClr val="3A4D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" y="3785616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現有設備軟體升級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596896" y="3785616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以軟體授權導入，無需換硬體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28032" y="3785616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△ 限定硬體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958584" y="3785616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△ 限定硬體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542032" y="3730752"/>
            <a:ext cx="2194560" cy="530352"/>
          </a:xfrm>
          <a:prstGeom prst="rect">
            <a:avLst/>
          </a:prstGeom>
          <a:solidFill>
            <a:srgbClr val="00D4A8">
              <a:alpha val="5000"/>
            </a:srgbClr>
          </a:solidFill>
          <a:ln w="6350">
            <a:solidFill>
              <a:srgbClr val="00D4A8">
                <a:alpha val="6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4297680"/>
            <a:ext cx="8641080" cy="530352"/>
          </a:xfrm>
          <a:prstGeom prst="rect">
            <a:avLst/>
          </a:prstGeom>
          <a:solidFill>
            <a:srgbClr val="121B2A"/>
          </a:solidFill>
          <a:ln w="6350">
            <a:solidFill>
              <a:srgbClr val="3A4D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" y="4352544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全球市佔率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596896" y="4352544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CytoVision 全球市佔率第一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28032" y="4352544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958584" y="4352544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542032" y="4297680"/>
            <a:ext cx="2194560" cy="530352"/>
          </a:xfrm>
          <a:prstGeom prst="rect">
            <a:avLst/>
          </a:prstGeom>
          <a:solidFill>
            <a:srgbClr val="00D4A8">
              <a:alpha val="5000"/>
            </a:srgbClr>
          </a:solidFill>
          <a:ln w="6350">
            <a:solidFill>
              <a:srgbClr val="00D4A8">
                <a:alpha val="6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2"/>
          </a:solidFill>
          <a:ln w="12700">
            <a:solidFill>
              <a:srgbClr val="080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01168"/>
            <a:ext cx="228600" cy="16459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630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AUDIENCE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不同角色的常見考量與解答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2788920" cy="3749040"/>
          </a:xfrm>
          <a:prstGeom prst="rect">
            <a:avLst/>
          </a:prstGeom>
          <a:solidFill>
            <a:srgbClr val="0D1420"/>
          </a:solidFill>
          <a:ln w="10160">
            <a:solidFill>
              <a:srgbClr val="00D4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115568"/>
            <a:ext cx="2788920" cy="36576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2070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👨‍⚕️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0392" y="1234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科主任 / 主任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" y="15087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實驗室管理者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0624" y="1755648"/>
            <a:ext cx="2423160" cy="13716"/>
          </a:xfrm>
          <a:prstGeom prst="rect">
            <a:avLst/>
          </a:prstGeom>
          <a:solidFill>
            <a:srgbClr val="3A4D6B"/>
          </a:solidFill>
          <a:ln w="12700">
            <a:solidFill>
              <a:srgbClr val="3A4D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18105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常見考量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20624" y="202996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「人力短缺、資深醫檢師難以培育留任，如何維持穩定的診斷產能？」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0624" y="29077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CytoInsight AI 的解答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20624" y="3127248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CytoInsight AI 可將染色體配對自動化，新人直接擔任審查角色——這不只是效率問題，更是人才培育策略的關鍵轉型。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18688" y="1115568"/>
            <a:ext cx="2788920" cy="3749040"/>
          </a:xfrm>
          <a:prstGeom prst="rect">
            <a:avLst/>
          </a:prstGeom>
          <a:solidFill>
            <a:srgbClr val="0D1420"/>
          </a:solidFill>
          <a:ln w="10160">
            <a:solidFill>
              <a:srgbClr val="3A4D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18688" y="1115568"/>
            <a:ext cx="27889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2070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813048" y="1234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組長 / 資深醫檢師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13048" y="15087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日常使用者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383280" y="1755648"/>
            <a:ext cx="2423160" cy="13716"/>
          </a:xfrm>
          <a:prstGeom prst="rect">
            <a:avLst/>
          </a:prstGeom>
          <a:solidFill>
            <a:srgbClr val="3A4D6B"/>
          </a:solidFill>
          <a:ln w="12700">
            <a:solidFill>
              <a:srgbClr val="3A4D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18105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常見考量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383280" y="202996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「每天手動排列 46 條染色體相當耗時，能否讓我專注在真正需要判斷的案例上？」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83280" y="29077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CytoInsight AI 的解答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383280" y="3127248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CytoInsight 把最枯燥的動作自動化——AI 先做好初稿，您只需做最後的專業確認。就像有個助理先幫您整理好，您再做最終判斷。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81344" y="1115568"/>
            <a:ext cx="2788920" cy="3749040"/>
          </a:xfrm>
          <a:prstGeom prst="rect">
            <a:avLst/>
          </a:prstGeom>
          <a:solidFill>
            <a:srgbClr val="0D1420"/>
          </a:solidFill>
          <a:ln w="10160">
            <a:solidFill>
              <a:srgbClr val="3A4D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81344" y="1115568"/>
            <a:ext cx="2788920" cy="36576"/>
          </a:xfrm>
          <a:prstGeom prst="rect">
            <a:avLst/>
          </a:prstGeom>
          <a:solidFill>
            <a:srgbClr val="00A882"/>
          </a:solidFill>
          <a:ln w="12700">
            <a:solidFill>
              <a:srgbClr val="00A8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45936" y="12070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💼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775704" y="1234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院長 / 行政管理層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75704" y="15087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資源規劃與績效評估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345936" y="1755648"/>
            <a:ext cx="2423160" cy="13716"/>
          </a:xfrm>
          <a:prstGeom prst="rect">
            <a:avLst/>
          </a:prstGeom>
          <a:solidFill>
            <a:srgbClr val="3A4D6B"/>
          </a:solidFill>
          <a:ln w="12700">
            <a:solidFill>
              <a:srgbClr val="3A4D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45936" y="18105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00A8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常見考量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345936" y="202996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「導入新系統的投資能否帶來可量化的效益，回收週期多長？」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45936" y="29077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00A8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CytoInsight AI 的解答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345936" y="3127248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每個核型從 20 分鐘縮短至 5 分鐘，效率提升 4 倍。以每日 20 個樣本計算，一天節省 5 小時人力工時，2–3 年內即可回收設備投資。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2"/>
          </a:solidFill>
          <a:ln w="12700">
            <a:solidFill>
              <a:srgbClr val="080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7592"/>
          </a:xfrm>
          <a:prstGeom prst="rect">
            <a:avLst/>
          </a:prstGeom>
          <a:solidFill>
            <a:srgbClr val="00D4A8">
              <a:alpha val="10000"/>
            </a:srgbClr>
          </a:solidFill>
          <a:ln w="6350">
            <a:solidFill>
              <a:srgbClr val="00D4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274320"/>
            <a:ext cx="3657600" cy="3657600"/>
          </a:xfrm>
          <a:prstGeom prst="ellipse">
            <a:avLst/>
          </a:prstGeom>
          <a:solidFill>
            <a:srgbClr val="00D4A8">
              <a:alpha val="5000"/>
            </a:srgbClr>
          </a:solidFill>
          <a:ln w="6350">
            <a:solidFill>
              <a:srgbClr val="00D4A8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914400"/>
            <a:ext cx="2377440" cy="2377440"/>
          </a:xfrm>
          <a:prstGeom prst="ellipse">
            <a:avLst/>
          </a:prstGeom>
          <a:solidFill>
            <a:srgbClr val="000000">
              <a:alpha val="0"/>
            </a:srgbClr>
          </a:solidFill>
          <a:ln w="6350">
            <a:solidFill>
              <a:srgbClr val="C9A84C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320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LEICA BIOSYSTEMS / CYTOVISION PLATFORM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59436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D4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CytoInsight AI</a:t>
            </a:r>
            <a:pPr indent="0" marL="0">
              <a:buNone/>
            </a:pPr>
            <a:endParaRPr lang="en-US" sz="4800" dirty="0"/>
          </a:p>
          <a:p>
            <a:pPr indent="0" marL="0">
              <a:buNone/>
            </a:pPr>
            <a:r>
              <a:rPr lang="en-US" sz="4800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讓專業更專注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20040" y="2212848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AI 承擔重複性工作，讓醫檢師的專業聚焦在真正需要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判斷的地方——複雜核型、罕見異常、報告品質。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154680"/>
            <a:ext cx="4114800" cy="16459"/>
          </a:xfrm>
          <a:prstGeom prst="rect">
            <a:avLst/>
          </a:prstGeom>
          <a:solidFill>
            <a:srgbClr val="3A4D6B"/>
          </a:solidFill>
          <a:ln w="12700">
            <a:solidFill>
              <a:srgbClr val="3A4D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246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詳細技術規格與採購諮詢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請聯繫 Leica Biosystems 台灣服務團隊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39867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00D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Leica Biosystems · CytoInsight AI  |  barron486.github.io/GMLBS/cytoinsight-ai.html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43891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© Leica Biosystems · CytoVision Platform · AI-Powered Cytogenetics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Leica CytoInsight AI</dc:title>
  <dc:subject>PptxGenJS Presentation</dc:subject>
  <dc:creator>Leica Biosystems Taiwan</dc:creator>
  <cp:lastModifiedBy>Leica Biosystems Taiwan</cp:lastModifiedBy>
  <cp:revision>1</cp:revision>
  <dcterms:created xsi:type="dcterms:W3CDTF">2026-03-20T04:43:38Z</dcterms:created>
  <dcterms:modified xsi:type="dcterms:W3CDTF">2026-03-20T04:43:38Z</dcterms:modified>
</cp:coreProperties>
</file>